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1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6C5CA8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5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4BC-4474-9ECD-11264C118CB6}"/>
              </c:ext>
            </c:extLst>
          </c:dPt>
          <c:dPt>
            <c:idx val="1"/>
            <c:invertIfNegative val="0"/>
            <c:bubble3D val="0"/>
            <c:spPr>
              <a:solidFill>
                <a:srgbClr val="6E9B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BC-4474-9ECD-11264C118CB6}"/>
              </c:ext>
            </c:extLst>
          </c:dPt>
          <c:dPt>
            <c:idx val="2"/>
            <c:invertIfNegative val="0"/>
            <c:bubble3D val="0"/>
            <c:spPr>
              <a:solidFill>
                <a:srgbClr val="8A7B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BC-4474-9ECD-11264C118CB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5304F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Video
EffNet-B0+LSTM</c:v>
                </c:pt>
                <c:pt idx="1">
                  <c:v>Audio
wav2vec 2.0</c:v>
                </c:pt>
                <c:pt idx="2">
                  <c:v>Fusion*
Cross-Modal Tr.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0.45</c:v>
                </c:pt>
                <c:pt idx="2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BC-4474-9ECD-11264C118C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2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emotion recognition usually looks at one channel. DeepCue reads three at once, in Hebrew, in real time, on a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question: isn't 0.98 meaningless? Answer: it measures architectural capacity on a controlled distribution, not deployment performance — and the slide says so. The 0.41 -&gt; 0.98 progression also shows the metric responds to data quality as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Isn't 0.98 fusion F1 meaningless? A: It measures architectural capacity on a controlled distribution, not deployment performance - stated on the slide. The 0.41-&gt;0.98 progression shows the metric responds to data quality.
Q: Why not end-to-end joint training? A: No paired data; decoupling enables independent upgrades and fits the CPU latency budget.
Q: Why LSTM, not a temporal Transformer, for video? A: Short sequences, cheaper on CPU, hard latency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chelBSade/DeepCue/tree/deep-learning-cor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6C5CA8">
              <a:alpha val="4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-1097280" y="3566160"/>
            <a:ext cx="2926080" cy="2926080"/>
          </a:xfrm>
          <a:prstGeom prst="ellipse">
            <a:avLst/>
          </a:prstGeom>
          <a:solidFill>
            <a:srgbClr val="6E9BD1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8138160" y="3931920"/>
            <a:ext cx="1554480" cy="1554480"/>
          </a:xfrm>
          <a:prstGeom prst="ellipse">
            <a:avLst/>
          </a:prstGeom>
          <a:solidFill>
            <a:srgbClr val="A9C6E8">
              <a:alpha val="3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DeepCue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Multimodal Emotion Recognition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Hebrew-Speaking Interview Candidates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 candidate says, how they say it, and what their face shows — fused by a Transformer.”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160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 Brodsky  ·  Solo Project  ·  Deep Learning Final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Emotion Is Multimodal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channel is ambiguous — especially when candidates actively regulate their expression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16642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micro-expressions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27432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involuntary movements — a calm voice can mask an anxious face.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ECF3FB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6642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Vocal prosody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3008" y="27432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energy, tempo — positive words can ride on strained, sarcastic delivery.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717804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6642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semantics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27648" y="27432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said — and almost no emotion research targets Hebrew.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setting raises the stakes:  </a:t>
            </a: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self-regulate, producing subtle and conflicting cues — exactly the cases where a single-modality model fails.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 Mixture of Experts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independently trained deep models, fused by a Cross-Modal Transformer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819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990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expert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+ LSTM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0" y="15819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logits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20440" y="1737360"/>
            <a:ext cx="685800" cy="96012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57200" y="2295144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6E9BD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511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6829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expert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 (fine-tuned)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43200" y="25511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logits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20440" y="2706624"/>
            <a:ext cx="6858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0"/>
          <p:cNvSpPr/>
          <p:nvPr/>
        </p:nvSpPr>
        <p:spPr>
          <a:xfrm>
            <a:off x="457200" y="3264408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8A7BC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2044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375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expert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(Hebrew)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743200" y="3520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score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 flipV="1">
            <a:off x="3520440" y="2697480"/>
            <a:ext cx="685800" cy="978408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4"/>
          <p:cNvSpPr/>
          <p:nvPr/>
        </p:nvSpPr>
        <p:spPr>
          <a:xfrm>
            <a:off x="4206240" y="21488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4F1FA"/>
          </a:solidFill>
          <a:ln w="12700">
            <a:solidFill>
              <a:srgbClr val="8A7BC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5"/>
          <p:cNvSpPr/>
          <p:nvPr/>
        </p:nvSpPr>
        <p:spPr>
          <a:xfrm>
            <a:off x="4206240" y="2212848"/>
            <a:ext cx="1417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17-dim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+ 8 + 1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7"/>
          <p:cNvSpPr/>
          <p:nvPr/>
        </p:nvSpPr>
        <p:spPr>
          <a:xfrm>
            <a:off x="6172200" y="196596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35304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212140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72200" y="2542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MLP head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772400" y="2697480"/>
            <a:ext cx="4572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0"/>
          <p:cNvSpPr/>
          <p:nvPr/>
        </p:nvSpPr>
        <p:spPr>
          <a:xfrm>
            <a:off x="8183880" y="2377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emotion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· confident · anxious · happy · sad · angry · surprised · uncertain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decouple the experts — each can be retrained or upgraded without touching the others.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Constraints That Shaped Every Choice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reality drove the deep learning decisions, not the other way around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inference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Windows machine, no GPU — every model exports to ONNX and must run fast.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937760" y="1828800"/>
            <a:ext cx="548640" cy="548640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9568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536192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s end-to-end latency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signal to fused prediction, live during the interview.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9"/>
          <p:cNvSpPr/>
          <p:nvPr/>
        </p:nvSpPr>
        <p:spPr>
          <a:xfrm>
            <a:off x="685800" y="3520440"/>
            <a:ext cx="548640" cy="548640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64845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27832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macro F1 ≥ 0.50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classifier, on strictly held-out data.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709160" y="306324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2"/>
          <p:cNvSpPr/>
          <p:nvPr/>
        </p:nvSpPr>
        <p:spPr>
          <a:xfrm>
            <a:off x="4937760" y="3520440"/>
            <a:ext cx="548640" cy="548640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64845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227832"/>
            <a:ext cx="2834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by necessity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EfficientNet-B0, 3-second audio chunks, landmarks instead of raw pixels.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0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public datasets — and the evaluation hygiene that made results trustworthy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ECF3FB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3619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RAVDESS  —  video &amp; audio experts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professional actors, 8 emotion categories, audio-visual recordings.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Actor-disjoint splits: no actor in both train and validation — prevents identity leakage.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leaked split scored ~0.99 F1 — too good to be true, and it was.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5361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2392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Hebrew Sentiment  —  text expert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983480" y="201168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omilab/</a:t>
            </a:r>
            <a:r>
              <a:rPr lang="en-US" sz="1150" dirty="0" err="1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hebrew_sentiment</a:t>
            </a: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corpus.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pivot with a bonus: the text expert became natively Hebrew.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sentiment labels → regression task.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776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</a:t>
            </a: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has no “confident” category, so that class has zero support in video/audio evaluation.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Expert: EfficientNet-B0 + LSTM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per frame, temporal dynamics across frames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444752" cy="868680"/>
          </a:xfrm>
          <a:prstGeom prst="roundRect">
            <a:avLst>
              <a:gd name="adj" fmla="val 8421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144475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801368"/>
            <a:ext cx="2286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121408" y="1371600"/>
            <a:ext cx="1444752" cy="868680"/>
          </a:xfrm>
          <a:prstGeom prst="roundRect">
            <a:avLst>
              <a:gd name="adj" fmla="val 8421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121408" y="1371600"/>
            <a:ext cx="144475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84448" y="1801368"/>
            <a:ext cx="2286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3831336" y="1371600"/>
            <a:ext cx="1444752" cy="868680"/>
          </a:xfrm>
          <a:prstGeom prst="roundRect">
            <a:avLst>
              <a:gd name="adj" fmla="val 8421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831336" y="1371600"/>
            <a:ext cx="144475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94376" y="1801368"/>
            <a:ext cx="2286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5541264" y="1371600"/>
            <a:ext cx="1444752" cy="868680"/>
          </a:xfrm>
          <a:prstGeom prst="roundRect">
            <a:avLst>
              <a:gd name="adj" fmla="val 8421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541264" y="1371600"/>
            <a:ext cx="144475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04304" y="1801368"/>
            <a:ext cx="22860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7251192" y="1371600"/>
            <a:ext cx="1444752" cy="868680"/>
          </a:xfrm>
          <a:prstGeom prst="roundRect">
            <a:avLst>
              <a:gd name="adj" fmla="val 8421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7251192" y="1371600"/>
            <a:ext cx="1444752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5146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ImageNet weights; horizontal-flip augmentation; actor-disjoint validation.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 over LSTM timesteps outperformed last-timestep readout.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pair: B0 is the best accuracy-per-FLOP fit for CPU deployment; the LSTM captures micro-expression dynamics a single frame misses.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6C5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8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actor-disjoint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Expert: Fine-Tuned wav2vec 2.0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Paralinguistics, not words — the model hears how something is said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658368" y="1609344"/>
            <a:ext cx="420624" cy="420624"/>
          </a:xfrm>
          <a:prstGeom prst="ellipse">
            <a:avLst/>
          </a:prstGeom>
          <a:solidFill>
            <a:srgbClr val="6E9BD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8132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head only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frozen; train the 8-class classification head on RAVDESS audio.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658368" y="2660904"/>
            <a:ext cx="420624" cy="420624"/>
          </a:xfrm>
          <a:prstGeom prst="ellipse">
            <a:avLst/>
          </a:prstGeom>
          <a:solidFill>
            <a:srgbClr val="6C5C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58368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328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full fine-tune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the Transformer; best validation F1 ≈ 0.73 on the audio-only set.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5349240" cy="1015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speech Transformer pre-trained on raw waveforms — reads prosody, energy, and voice quality directly.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solidFill>
                <a:srgbClr val="6B68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transcribed to text in real time using OpenAI's Whisper model, which feeds the extracted content into the semantic/text emotion pipeline alongside the paralinguistic audio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ECF3FB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6E9B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cross-source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audio-only WAVs, evaluated on audio from AV MP4s — a domain-shift lesson, revisited in Results.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Expert: XLM-RoBERTa for Hebrew Sentiment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Transformer, fine-tuned as a regressor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XLM-R: the strongest open multilingual encoder (100 languages) for a language that is low-resource in sentiment analysis.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regression: sentiment intensity is a graded signal — a continuous score feeds fusion better than a hard label.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MAE — the correct metric for a regression head.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upgrade to an 8-class head for architectural symmetry with the sibling experts.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C5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normalized scale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land within ~5%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ground truth on average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Cross-Modal Transformer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Learned, context-dependent weighting — not fixed averaging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6C5C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logits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47672" y="1691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880"/>
                </a:solidFill>
              </a:rPr>
              <a:t>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6E9BD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148840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logits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39312" y="1691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880"/>
                </a:solidFill>
              </a:rPr>
              <a:t>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8A7BC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sentiment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77840" y="1874520"/>
            <a:ext cx="411480" cy="0"/>
          </a:xfrm>
          <a:prstGeom prst="line">
            <a:avLst/>
          </a:prstGeom>
          <a:noFill/>
          <a:ln w="19050">
            <a:solidFill>
              <a:srgbClr val="6B6880"/>
            </a:solidFill>
            <a:prstDash val="solid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35304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03504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MLP head → 8 classes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321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modality’s evidence re-weights the others. 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voice can override an ambiguous face in one moment; the face can dominate in the next. That context-dependent weighting is exactly what conflicting-cue cases require — and what fixed-weight averaging or majority voting cannot do.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Viability Simulation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fusion architecture before real paired data exists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713232" y="1463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 </a:t>
            </a: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paired multimodal dataset exists for Hebrew interview emotion — the same moment would need labels across all three channels at once.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deliberate strategy:  </a:t>
            </a: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synthetic dataset simulating the empirical output distributions of the three trained experts (intensity-modulated class means, realistic overlap) — an architectural proof-of-concept that de-risks the pipeline before real paired data arrives.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35304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080760" y="1645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BB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 → 0.98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8076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F1, first vs. refined simulation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simulation used overlapping class means and scored 0.41. Diagnosing that as a data problem — not a model failure — is itself a deep learning lesson.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0.98 validates the attention mechanism’s capacity on the 17-dim space — real-world fusion performance awaits paired data from deployed sessions.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per-class fairness under imbalance · MAE = average error for regression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macro F1 ≥ 0.50 — audio sits just below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89320" y="137160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F4F1FA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6217920" y="15361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MAE = 0.046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 — ~5% average error on the normalized sentiment scale.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89320" y="297180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ECF3FB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6217920" y="31363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0.45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under the gate — explained by cross-source domain shift; an open fine-tuning item.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*Fusion evaluated on the Architectural Viability Simulation (synthetic paired data).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Engineering Decisions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numbers came from finding what was wrong with the flattering 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12064" cy="512064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476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481328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dropped for ONNX stability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shrank the video model 74% (33.3 → 8.7 MB) but destabilized the ONNX inference path. Shipped full-precision — still within the CPU latency budget. Compression is only free on paper.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910328" y="1828800"/>
            <a:ext cx="512064" cy="512064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476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05272" y="1481328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leakage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video result (~0.99 F1) was too good to be true. Actor-disjoint splits revealed the honest number: 0.80.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9"/>
          <p:cNvSpPr/>
          <p:nvPr/>
        </p:nvSpPr>
        <p:spPr>
          <a:xfrm>
            <a:off x="658368" y="3520440"/>
            <a:ext cx="512064" cy="512064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393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3172968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Metric–model matching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expert was initially gated with F1 despite being a regressor — corrected to MAE, the right metric for the task.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709160" y="306324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35304F">
                <a:alpha val="1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2"/>
          <p:cNvSpPr/>
          <p:nvPr/>
        </p:nvSpPr>
        <p:spPr>
          <a:xfrm>
            <a:off x="4910328" y="3520440"/>
            <a:ext cx="512064" cy="512064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393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05272" y="3172968"/>
            <a:ext cx="2944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in audio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Train/eval source mismatch (WAV-only vs. AV-extracted audio) is the leading suspect for the 0.45 — documented, not hidden.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5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was the rehearsal — real paired data is the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53896"/>
            <a:ext cx="530352" cy="530352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819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paired multimodal data   </a:t>
            </a: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interview sessions generate genuinely paired video-audio-text moments → retrain fusion on real distributions.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295144"/>
            <a:ext cx="530352" cy="530352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1284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fine-tuning pass   </a:t>
            </a: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AV-sourced audio to close the domain gap behind the 0.45.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136392"/>
            <a:ext cx="530352" cy="530352"/>
          </a:xfrm>
          <a:prstGeom prst="ellipse">
            <a:avLst/>
          </a:prstGeom>
          <a:solidFill>
            <a:srgbClr val="F4F1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26440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05409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regression → classification   </a:t>
            </a: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an 8-class head for architectural symmetry across all three experts.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3977640"/>
            <a:ext cx="530352" cy="530352"/>
          </a:xfrm>
          <a:prstGeom prst="ellipse">
            <a:avLst/>
          </a:prstGeom>
          <a:solidFill>
            <a:srgbClr val="ECF3F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1056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89534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revisited   </a:t>
            </a: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(QAT) instead of post-training INT8 — keep the size win without the instability.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53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05840"/>
            <a:ext cx="2743200" cy="2743200"/>
          </a:xfrm>
          <a:prstGeom prst="ellipse">
            <a:avLst/>
          </a:prstGeom>
          <a:solidFill>
            <a:srgbClr val="6C5CA8">
              <a:alpha val="45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-914400" y="3840480"/>
            <a:ext cx="2377440" cy="2377440"/>
          </a:xfrm>
          <a:prstGeom prst="ellipse">
            <a:avLst/>
          </a:prstGeom>
          <a:solidFill>
            <a:srgbClr val="6E9BD1">
              <a:alpha val="4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3474720" y="2367425"/>
            <a:ext cx="20987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82835" y="3782133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54F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github.com/RachelBSade/</a:t>
            </a:r>
            <a:r>
              <a:rPr lang="en-US" sz="1500" b="1" dirty="0" err="1">
                <a:solidFill>
                  <a:srgbClr val="954F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DeepCue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1465</Words>
  <Application>Microsoft Office PowerPoint</Application>
  <PresentationFormat>‫הצגה על המסך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DeepCue — Multimodal Emotion Recognition</dc:title>
  <dc:subject>PptxGenJS Presentation</dc:subject>
  <dc:creator>Rachel Brodsky</dc:creator>
  <cp:lastModifiedBy>Rachel Sade</cp:lastModifiedBy>
  <cp:revision>3</cp:revision>
  <dcterms:created xsi:type="dcterms:W3CDTF">2026-07-06T17:55:40Z</dcterms:created>
  <dcterms:modified xsi:type="dcterms:W3CDTF">2026-07-07T10:55:58Z</dcterms:modified>
</cp:coreProperties>
</file>